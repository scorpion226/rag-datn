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HỆ THỐNG RAG HỖ TRỢ TRA CỨU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VĂN BẢN PHÁP LUẬT / Y TẾ VIỆT NAM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ADCFC"/>
                </a:solidFill>
                <a:latin typeface="Calibri"/>
              </a:rPr>
              <a:t>Đồ án tốt nghiệp, Khoa Công nghệ thông tin, Đại học Thủy lợi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Sinh viên: Nguyễn Minh Hiếu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Giảng viên hướng dẫn: TS. Nguyễn Trọng Nghĩa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9BB7E0"/>
                </a:solidFill>
                <a:latin typeface="Calibri"/>
              </a:rPr>
              <a:t>Hà Nội,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Bài toán và động lực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383280" cy="2377440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3383280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E2761"/>
                </a:solidFill>
                <a:latin typeface="Cambria"/>
              </a:rPr>
              <a:t>Tra cứu khó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292608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Văn bản pháp luật y tế lớn, phân tán, ngôn ngữ hình thức; người dân khó tìm đúng.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383280" cy="2377440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63040"/>
            <a:ext cx="3383280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E2761"/>
                </a:solidFill>
                <a:latin typeface="Cambria"/>
              </a:rPr>
              <a:t>LLM dễ “bịa”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292608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Hỏi thẳng mô hình ngôn ngữ cho câu trôi chảy nhưng có thể sai, không dẫn nguồn.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463040"/>
            <a:ext cx="3383280" cy="2377440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19" y="1463040"/>
            <a:ext cx="3383280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737360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E2761"/>
                </a:solidFill>
                <a:latin typeface="Cambria"/>
              </a:rPr>
              <a:t>Cần kiểm chứng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377440"/>
            <a:ext cx="292608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Lĩnh vực pháp lý đòi hỏi mọi khẳng định phải trích dẫn số hiệu văn bản cụ thể.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97680"/>
            <a:ext cx="10927080" cy="14630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26280"/>
            <a:ext cx="1024128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Giải pháp: Retrieval-Augmented Generation (RAG)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Truy xuất các đoạn văn bản đáng tin cậy → mô hình sinh trả lời dựa trên nguồn và trích dẫn → giảm bịa đặt, kiểm chứng được, cập nhật dễ.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Mục tiêu và phạm vi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572768"/>
            <a:ext cx="98755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Nghiên cứu kiến trúc RAG và các thành phần cho tiếng Việt (PhoBERT, ChromaDB, PhoGPT).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69748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715768"/>
            <a:ext cx="98755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Thu thập, làm sạch, phân đoạn kho văn bản pháp luật ngành y tế từ nguồn chính thống.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84048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858768"/>
            <a:ext cx="98755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Xây pipeline RAG hoàn chỉnh: phân đoạn → embedding → truy xuất → sinh phản hồi có trích dẫn.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98348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5001768"/>
            <a:ext cx="98755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Phát triển giao diện web hỏi–đáp; đánh giá định lượng và cải thiện chất lượng truy xuất.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Calibri"/>
              </a:rPr>
              <a:t>Ràng buộc: vận hành trên máy cá nhân CPU 16GB (không bắt buộc GPU); chỉ văn bản còn hiệu lực.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Kiến trúc hệ thống RAG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874" y="1234440"/>
            <a:ext cx="4496171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554480"/>
            <a:ext cx="539496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E2761"/>
                </a:solidFill>
                <a:latin typeface="Cambria"/>
              </a:rPr>
              <a:t>Luồng xử lý một câu hỏi: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Tách từ (pyvi) + mã hóa câu hỏi (bi-encoder)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Truy xuất song song: vector (ChromaDB) + BM25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Hợp nhất RRF + nhận diện số hiệu văn bản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Xếp hạng lại bằng cross-encoder (reranker)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Sinh câu trả lời có trích dẫn bằng PhoGPT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028090"/>
                </a:solidFill>
                <a:latin typeface="Calibri"/>
              </a:rPr>
              <a:t>Toàn bộ chạy offline, không cần Internet.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Dữ liệu và tiền xử lý</a:t>
            </a:r>
          </a:p>
        </p:txBody>
      </p:sp>
      <p:pic>
        <p:nvPicPr>
          <p:cNvPr id="3" name="Picture 2" descr="data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920240"/>
            <a:ext cx="6583680" cy="316016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98079" y="1554480"/>
            <a:ext cx="4023360" cy="1234440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664207"/>
            <a:ext cx="3657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28090"/>
                </a:solidFill>
                <a:latin typeface="Cambria"/>
              </a:rPr>
              <a:t>367.462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304288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đoạn (chunk) sạch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971800"/>
            <a:ext cx="4023360" cy="1234440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3081528"/>
            <a:ext cx="3657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28090"/>
                </a:solidFill>
                <a:latin typeface="Cambria"/>
              </a:rPr>
              <a:t>21.490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721608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văn bản còn hiệu lực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4389120"/>
            <a:ext cx="4023360" cy="1234440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4498848"/>
            <a:ext cx="3657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28090"/>
                </a:solidFill>
                <a:latin typeface="Cambria"/>
              </a:rPr>
              <a:t>9.131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138928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đoạn trùng đã loại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Pipeline truy xuất và các kỹ thuật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18872" cy="19202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1783080"/>
            <a:ext cx="4754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E2761"/>
                </a:solidFill>
                <a:latin typeface="Cambria"/>
              </a:rPr>
              <a:t>1. Tách từ pyvi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2468880"/>
            <a:ext cx="47548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Khớp phân phối huấn luyện PhoBERT, đòn bẩy mạnh nhất (+0,10 Hit@1).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554480"/>
            <a:ext cx="118872" cy="19202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83080"/>
            <a:ext cx="4754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E2761"/>
                </a:solidFill>
                <a:latin typeface="Cambria"/>
              </a:rPr>
              <a:t>2. Hybrid BM25 + 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7548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Bù điểm yếu từ vựng/số hiệu của embedding; hợp nhất bằng RRF.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9476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794760"/>
            <a:ext cx="118872" cy="19202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19" y="4023360"/>
            <a:ext cx="4754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E2761"/>
                </a:solidFill>
                <a:latin typeface="Cambria"/>
              </a:rPr>
              <a:t>3. Nhận diện số hiệu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19" y="4709160"/>
            <a:ext cx="47548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Bắt mẫu “96/2023/NĐ-CP”, tiêm thẳng đúng văn bản vào ứng viên.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9476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3794760"/>
            <a:ext cx="118872" cy="19202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023360"/>
            <a:ext cx="4754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E2761"/>
                </a:solidFill>
                <a:latin typeface="Cambria"/>
              </a:rPr>
              <a:t>4. Reranker (cross-encoder)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709160"/>
            <a:ext cx="47548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Đọc đồng thời câu hỏi + đoạn → xếp hạng tinh hơn bi-encoder.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Các mô hình sử dụng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92708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310896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Mô hình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1481328"/>
            <a:ext cx="365760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Vai trò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481328"/>
            <a:ext cx="41605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Mục đích trong hệ thống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0927080" cy="9601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30175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vietnamese-bi-encoder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057400"/>
            <a:ext cx="352044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Bi-encoder (PhoBERT, 768d)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57400"/>
            <a:ext cx="402336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Mã hóa ngữ nghĩa câu hỏi/đoạn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30175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bge-m3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017520"/>
            <a:ext cx="352044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Đa ngữ SOTA (568M, 1024d)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017520"/>
            <a:ext cx="402336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Mô hình nền mạnh hơn cho câu đời thường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40480"/>
            <a:ext cx="10927080" cy="96012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77640"/>
            <a:ext cx="30175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PhoRanker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977640"/>
            <a:ext cx="352044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Cross-encoder (PhoBERT)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977640"/>
            <a:ext cx="402336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Xếp hạng lại; được fine-tune cho miền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37760"/>
            <a:ext cx="30175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PhoGPT-4B-Chat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4937760"/>
            <a:ext cx="352044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LLM sinh (GGUF Q4, 2,36GB)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937760"/>
            <a:ext cx="402336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Sinh câu trả lời có trích dẫn, chạy CPU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Kết quả truy xuất (bộ 200 câu hỏi)</a:t>
            </a:r>
          </a:p>
        </p:txBody>
      </p:sp>
      <p:pic>
        <p:nvPicPr>
          <p:cNvPr id="3" name="Picture 2" descr="retriev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17320"/>
            <a:ext cx="7498079" cy="399897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138160" y="1554480"/>
            <a:ext cx="3566160" cy="3931920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0" y="1783080"/>
            <a:ext cx="3108960" cy="3474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E2761"/>
                </a:solidFill>
                <a:latin typeface="Cambria"/>
              </a:rPr>
              <a:t>Cấu hình tốt nhất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Hybrid + Reranker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mbria"/>
              </a:rPr>
              <a:t>Hit@1 = 0,650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mbria"/>
              </a:rPr>
              <a:t>MRR = 0,764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mbria"/>
              </a:rPr>
              <a:t>Hit@10 = 0,940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Mỗi kỹ thuật (tách từ, hybrid, reranker) đều đóng góp dương; ổn định khi mở rộng lên 650 câu.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Thách thức lớn nhất: câu hỏi diễn đạt tự nhiên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676656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CADCFC"/>
                </a:solidFill>
                <a:latin typeface="Calibri"/>
              </a:rPr>
              <a:t>Người dân hỏi bằng ngôn ngữ đời thường, không dùng thuật ngữ pháp lý: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“mở quán ăn nhỏ”  ✗  “cơ sở kinh doanh dịch vụ ăn uống”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“quầy thuốc ở quê”  ✗  “cơ sở bán lẻ thuốc”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0A896"/>
                </a:solidFill>
                <a:latin typeface="Calibri"/>
              </a:rPr>
              <a:t>→ Khoảng cách từ vựng (lexical gap) khiến cả embedding lẫn BM25 đều hụt.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2103120"/>
            <a:ext cx="3566160" cy="2651760"/>
          </a:xfrm>
          <a:prstGeom prst="roundRect">
            <a:avLst/>
          </a:prstGeom>
          <a:solidFill>
            <a:srgbClr val="141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2468880"/>
            <a:ext cx="356616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6000" b="1">
                <a:solidFill>
                  <a:srgbClr val="E11D48"/>
                </a:solidFill>
                <a:latin typeface="Cambria"/>
              </a:rPr>
              <a:t>0,16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3657600"/>
            <a:ext cx="3566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Hit@1 câu tự nhiên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BB7E0"/>
                </a:solidFill>
                <a:latin typeface="Calibri"/>
              </a:rPr>
              <a:t>(so với 0,65 câu mẫu)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Hành trình cải thiện câu hỏi tự nhiên</a:t>
            </a:r>
          </a:p>
        </p:txBody>
      </p:sp>
      <p:pic>
        <p:nvPicPr>
          <p:cNvPr id="3" name="Picture 2" descr="natural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" y="1371600"/>
            <a:ext cx="7132320" cy="39057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554480"/>
            <a:ext cx="457200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1E2761"/>
                </a:solidFill>
                <a:latin typeface="Cambria"/>
              </a:rPr>
              <a:t>Bốn kỹ thuật cộng dồn: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• bge-m3: mô hình nền mạnh hơn (không cần dữ liệu HL)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• Từ điển ánh xạ đời thường → pháp lý (131 mục)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• Mở rộng ngữ nghĩa: lexicon 12.839 cụm pháp lý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• Fine-tune reranker (kiểm chứng 5-fold CV)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028090"/>
                </a:solidFill>
                <a:latin typeface="Cambria"/>
              </a:rPr>
              <a:t>Hit@1: 0,14 → 0,785  (×5,6)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Kết quả sau cùng</a:t>
            </a:r>
          </a:p>
        </p:txBody>
      </p:sp>
      <p:pic>
        <p:nvPicPr>
          <p:cNvPr id="3" name="Picture 2" descr="bge_vs_phob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2743200"/>
            <a:ext cx="6400800" cy="3520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949440" y="1371600"/>
            <a:ext cx="2286000" cy="2743200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0" y="1554480"/>
            <a:ext cx="2286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E2761"/>
                </a:solidFill>
                <a:latin typeface="Cambria"/>
              </a:rPr>
              <a:t>Câu mẫu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2057400"/>
            <a:ext cx="2286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Hit@1 gốc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377440"/>
            <a:ext cx="2286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64748B"/>
                </a:solidFill>
                <a:latin typeface="Cambria"/>
              </a:rPr>
              <a:t>0,650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017520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28090"/>
                </a:solidFill>
                <a:latin typeface="Calibri"/>
              </a:rPr>
              <a:t>→ cuối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291840"/>
            <a:ext cx="22860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28090"/>
                </a:solidFill>
                <a:latin typeface="Cambria"/>
              </a:rPr>
              <a:t>0,925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1371600"/>
            <a:ext cx="2286000" cy="2743200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1554480"/>
            <a:ext cx="2286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E2761"/>
                </a:solidFill>
                <a:latin typeface="Cambria"/>
              </a:rPr>
              <a:t>Câu tự nhiên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057400"/>
            <a:ext cx="2286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Hit@1 gốc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377440"/>
            <a:ext cx="2286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64748B"/>
                </a:solidFill>
                <a:latin typeface="Cambria"/>
              </a:rPr>
              <a:t>0,160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3017520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28090"/>
                </a:solidFill>
                <a:latin typeface="Calibri"/>
              </a:rPr>
              <a:t>→ cuối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291840"/>
            <a:ext cx="22860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28090"/>
                </a:solidFill>
                <a:latin typeface="Cambria"/>
              </a:rPr>
              <a:t>0,785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389120"/>
            <a:ext cx="475488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Câu tự nhiên kiểm chứng 5-fold CV: 0,785 ± 0,026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Toàn bộ không cần dữ liệu gán nhãn lớn; reranker fine-tune trên 159 câu.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Tính trung thực khoa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E293B"/>
                </a:solidFill>
                <a:latin typeface="Calibri"/>
              </a:rPr>
              <a:t>Báo cáo đầy đủ cả các hướng không thành công, kèm phân tích nguyên nhân: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57400"/>
            <a:ext cx="5303520" cy="1143000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E11D48"/>
                </a:solidFill>
                <a:latin typeface="Calibri"/>
              </a:rPr>
              <a:t>Viết lại truy vấn (LLM)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24328"/>
            <a:ext cx="48463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PhoGPT-4B bịa trích dẫn, không tuân chỉ dẫn → giảm.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057400"/>
            <a:ext cx="5303520" cy="1143000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19456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E11D48"/>
                </a:solidFill>
                <a:latin typeface="Calibri"/>
              </a:rPr>
              <a:t>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624328"/>
            <a:ext cx="48463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Đoạn giả định chèn số hiệu sai → “cướp lái” truy xuất.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29000"/>
            <a:ext cx="5303520" cy="1143000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E11D48"/>
                </a:solidFill>
                <a:latin typeface="Calibri"/>
              </a:rPr>
              <a:t>Fine-tune dữ liệu hình thức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95928"/>
            <a:ext cx="48463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Sai loại dữ liệu → quên thảm họa, giảm mạnh.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429000"/>
            <a:ext cx="5303520" cy="1143000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56616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E11D48"/>
                </a:solidFill>
                <a:latin typeface="Calibri"/>
              </a:rPr>
              <a:t>Reranker thô / lexicon quá lớn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995928"/>
            <a:ext cx="48463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Pipeline phải tinh chỉnh theo mô hình nền.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927080" cy="11887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212080"/>
            <a:ext cx="103327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Cảnh báo trung thực về reranker fine-tune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Mức tăng lớn một phần do mô hình học “ưu tiên văn bản cấp Luật” khớp quy ước nhãn → đã lập phiếu thẩm định chuyên gia để xác nhận.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Giao diện web demo</a:t>
            </a:r>
          </a:p>
        </p:txBody>
      </p:sp>
      <p:pic>
        <p:nvPicPr>
          <p:cNvPr id="3" name="Picture 2" descr="web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303" y="1325880"/>
            <a:ext cx="3558113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554480"/>
            <a:ext cx="329184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1E2761"/>
                </a:solidFill>
                <a:latin typeface="Cambria"/>
              </a:rPr>
              <a:t>Ứng dụng web (React + FastAPI)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• Hỏi–đáp dạng chat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• Hiển thị nguồn: số hiệu, hiệu lực, trích đoạn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• Lưu lịch sử phía trình duyệt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028090"/>
                </a:solidFill>
                <a:latin typeface="Calibri"/>
              </a:rPr>
              <a:t>• Chạy hoàn toàn offline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Kết luận và hướng phát triển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5349240" cy="4754880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1E2761"/>
                </a:solidFill>
                <a:latin typeface="Cambria"/>
              </a:rPr>
              <a:t>Kết luận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• Hệ thống RAG hoàn chỉnh chạy CPU 16GB, web offline.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• Mọi kỹ thuật được kiểm chứng có đối chứng (200→650 câu).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• Giải quyết câu hỏi tự nhiên: Hit@1 0,16 → 0,785 (5-fold CV).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• Đóng góp: nhận diện số hiệu, từ điển ánh xạ, mở rộng ngữ nghĩa, reranker fine-tune.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17320"/>
            <a:ext cx="5394960" cy="47548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645920"/>
            <a:ext cx="4846320" cy="4389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Hướng phát triển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CADCFC"/>
                </a:solidFill>
                <a:latin typeface="Calibri"/>
              </a:rPr>
              <a:t>• Thẩm định chuyên gia + cross-validation rộng hơn cho reranker.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CADCFC"/>
                </a:solidFill>
                <a:latin typeface="Calibri"/>
              </a:rPr>
              <a:t>• Bộ dữ liệu câu đời thường có nhãn quy mô lớn.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CADCFC"/>
                </a:solidFill>
                <a:latin typeface="Calibri"/>
              </a:rPr>
              <a:t>• Tăng tốc phần sinh (GPU/dịch vụ); đo độ trung thực câu trả lời.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CADCFC"/>
                </a:solidFill>
                <a:latin typeface="Calibri"/>
              </a:rPr>
              <a:t>• Mở rộng sang các lĩnh vực pháp luật khác.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146304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Cambria"/>
              </a:rPr>
              <a:t>Xin cảm ơn quý thầy cô!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ADCFC"/>
                </a:solidFill>
                <a:latin typeface="Calibri"/>
              </a:rPr>
              <a:t>Rất mong nhận được góp ý của Hội đồng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